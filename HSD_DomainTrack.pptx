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474665" r:id="rId2"/>
    <p:sldId id="2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A9E7D-2BB0-BEBA-3E8A-923085E41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B8B8D-F121-B19B-6995-36CC53B04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3C3F2-16A7-E0CD-DDE4-520490CB7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5308D-6C99-F6F5-7BDB-89E47E588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60491-C133-B8F4-AF96-171B2D0A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8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C3FDF-7CCA-FE84-7FCF-9DCEA4478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C193E6-5D05-8977-0392-3262C380D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A4657-2876-F9CC-9EC7-600D77A3B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130D2-6ED7-CCEE-06EC-18DF422B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B221B-9FA1-CE55-1CA4-1596C2007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920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9E889-2E62-D62B-7F88-BCB4BD493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B12A8-6D97-A9F4-B715-9A4E29B85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49340-4759-5073-EAAC-5EF517B89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3F99B0-A0CD-80F6-2D08-E69D3C6B7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34E70-2AF4-7C34-8C8A-D2A303E3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8899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0ED9C-B744-652D-586A-78844137B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4DA426-A9E2-34E8-C8E2-DEB36949E5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5D4E7-54F1-6ADF-5AE6-AC69C7A7D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478D10-CBAE-05B3-B63A-32F9CF2B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D24E8-DEF0-0F42-870C-EAB6E3067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A67CC-1946-6493-9689-FC37E340D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81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4B2D1-A0E3-62DB-613D-D62E2D24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8136A-F7CA-69FC-A37C-7DAAE7203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0860B9-324E-CF6F-101F-FFF6DA0F37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8E67D2-7873-7F39-2187-224A02C6B9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7DC4D7-A0C7-0952-0A6D-A979634751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BD3896-1860-D24F-5A14-7EF4C79DA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79D926-032E-3180-B500-0D001A218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1ED61-868B-8FA4-17B7-5F9DDD953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4841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0F3E-918B-3F0D-6E79-8941E978F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171740-AC28-AAD1-58CB-4C63C1508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41E4C2-BB10-EB60-8809-D2EA27B3E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93BE8-68E9-07F3-5297-2F0515E50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078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E29592-67CE-DE34-B0FD-AA70A0DE8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DAA202-0D66-A139-8816-81AE28A65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2A8BC-14DD-C8A2-5B9E-6666BCA28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101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8FE1E-8B85-FAB2-9C00-4C2A6A3BA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7BCC7-36F6-B5DC-F8A5-7F8810C23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40184-4349-CAE7-93CE-FA5251422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A933B-645C-6FE4-CF5C-41F79B29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331E6-563C-26EC-E2A0-D858A45B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53D71C-37E7-C636-CB3B-0C53C799F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066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AAFCC-35B6-E129-1442-45176CA4A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EF3122-7A32-B18B-6F82-135E97B137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6EAA2-CDB8-AB51-BAE4-308F6CB99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1B04AB-FFD6-2886-099C-E5C9E71C6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84338-3E7D-16BC-DFE4-A83803BD2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8FFB3-BDFE-9E11-E0DB-D2CB250C4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247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23298-9EA0-301B-9BCA-1F7D88426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03783B-E6BA-F175-72C2-48B7EBD10C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07F99A-8728-B217-37FB-AE5BE7DF7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5B3D68-662F-F9E9-613F-2DE78A02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E9999-267C-51E9-4553-40E7689E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815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CDD305-AD36-D3CE-E462-0FF29A2E3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C94A0E-5CAF-3D5B-083F-CACDD8280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12763-7E98-F5B7-63B9-DC5C70E2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7A3A7-580A-6567-3E95-F687F4DDB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3E49B-F843-7A67-91CA-A8CCE6B4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Blue A">
    <p:bg>
      <p:bgPr>
        <a:solidFill>
          <a:srgbClr val="184A8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5162" y="-12777"/>
            <a:ext cx="12192277" cy="6858155"/>
          </a:xfrm>
          <a:prstGeom prst="rect">
            <a:avLst/>
          </a:prstGeom>
        </p:spPr>
      </p:pic>
      <p:sp>
        <p:nvSpPr>
          <p:cNvPr id="80" name="Square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1" name="Rectangle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2" name="Square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26FC5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sz="1600">
              <a:solidFill>
                <a:srgbClr val="026FC5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Title Text">
            <a:extLst>
              <a:ext uri="{FF2B5EF4-FFF2-40B4-BE49-F238E27FC236}">
                <a16:creationId xmlns:a16="http://schemas.microsoft.com/office/drawing/2014/main" id="{89FD31ED-4225-F549-987B-028F84979F8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>
            <a:lvl1pPr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60pt </a:t>
            </a:r>
            <a:r>
              <a:rPr lang="en-US" err="1"/>
              <a:t>IntelOne</a:t>
            </a:r>
            <a:r>
              <a:rPr lang="en-US"/>
              <a:t> Display Light</a:t>
            </a:r>
            <a:endParaRPr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75379059-B28C-483A-9CD1-B3EB81874AE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895475" y="3182315"/>
            <a:ext cx="10296524" cy="304800"/>
          </a:xfrm>
        </p:spPr>
        <p:txBody>
          <a:bodyPr>
            <a:normAutofit/>
          </a:bodyPr>
          <a:lstStyle>
            <a:lvl1pPr marL="0" indent="0">
              <a:buNone/>
              <a:defRPr sz="1600" b="0" i="0" baseline="0">
                <a:solidFill>
                  <a:schemeClr val="accent2">
                    <a:lumMod val="40000"/>
                    <a:lumOff val="60000"/>
                  </a:schemeClr>
                </a:solidFill>
                <a:latin typeface="IntelOne Display Bold" panose="020B0803020203020204" pitchFamily="34" charset="0"/>
                <a:ea typeface="IntelOne Display Bold" panose="020B0803020203020204" pitchFamily="34" charset="0"/>
                <a:cs typeface="IntelOne Display Bold" panose="020B0803020203020204" pitchFamily="34" charset="0"/>
              </a:defRPr>
            </a:lvl1pPr>
          </a:lstStyle>
          <a:p>
            <a:r>
              <a:rPr lang="en-US"/>
              <a:t>16pt </a:t>
            </a:r>
            <a:r>
              <a:rPr lang="en-US" err="1"/>
              <a:t>IntelOne</a:t>
            </a:r>
            <a:r>
              <a:rPr lang="en-US"/>
              <a:t> Text Bold (Intro):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EFC1083-9176-4B55-B8AB-9F31A213ED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908348" y="4744103"/>
            <a:ext cx="10283651" cy="326776"/>
          </a:xfrm>
        </p:spPr>
        <p:txBody>
          <a:bodyPr>
            <a:normAutofit/>
          </a:bodyPr>
          <a:lstStyle>
            <a:lvl1pPr marL="0" indent="0">
              <a:buNone/>
              <a:defRPr sz="1800" b="0" i="0" baseline="0">
                <a:solidFill>
                  <a:schemeClr val="bg1"/>
                </a:solidFill>
                <a:latin typeface="IntelOne Display Regular" panose="020B0503020203020204" pitchFamily="34" charset="0"/>
                <a:ea typeface="IntelOne Display Regular" panose="020B0503020203020204" pitchFamily="34" charset="0"/>
                <a:cs typeface="IntelOne Display Regular" panose="020B0503020203020204" pitchFamily="34" charset="0"/>
              </a:defRPr>
            </a:lvl1pPr>
          </a:lstStyle>
          <a:p>
            <a:r>
              <a:rPr lang="en-US"/>
              <a:t>18pt </a:t>
            </a:r>
            <a:r>
              <a:rPr lang="en-US" err="1"/>
              <a:t>IntelOne</a:t>
            </a:r>
            <a:r>
              <a:rPr lang="en-US"/>
              <a:t> Display </a:t>
            </a:r>
            <a:r>
              <a:rPr lang="en-US" err="1"/>
              <a:t>Reg</a:t>
            </a:r>
            <a:r>
              <a:rPr lang="en-US"/>
              <a:t> (Subhead, Date, Etc.)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8DF977-78B3-4C00-9E43-1223CD667932}"/>
              </a:ext>
            </a:extLst>
          </p:cNvPr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78F73C8D-05B1-4270-85FA-B1FD37A25A06}"/>
                </a:ext>
              </a:extLst>
            </p:cNvPr>
            <p:cNvSpPr/>
            <p:nvPr/>
          </p:nvSpPr>
          <p:spPr>
            <a:xfrm>
              <a:off x="1314450" y="6396809"/>
              <a:ext cx="78581" cy="78581"/>
            </a:xfrm>
            <a:custGeom>
              <a:avLst/>
              <a:gdLst>
                <a:gd name="connsiteX0" fmla="*/ 0 w 78581"/>
                <a:gd name="connsiteY0" fmla="*/ 0 h 78581"/>
                <a:gd name="connsiteX1" fmla="*/ 78581 w 78581"/>
                <a:gd name="connsiteY1" fmla="*/ 0 h 78581"/>
                <a:gd name="connsiteX2" fmla="*/ 78581 w 78581"/>
                <a:gd name="connsiteY2" fmla="*/ 78581 h 78581"/>
                <a:gd name="connsiteX3" fmla="*/ 0 w 78581"/>
                <a:gd name="connsiteY3" fmla="*/ 78581 h 78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581" h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C6580CA-6E37-4F04-8FAD-D6491FEE8CE6}"/>
                </a:ext>
              </a:extLst>
            </p:cNvPr>
            <p:cNvSpPr/>
            <p:nvPr/>
          </p:nvSpPr>
          <p:spPr>
            <a:xfrm>
              <a:off x="1316545" y="6391094"/>
              <a:ext cx="995171" cy="420623"/>
            </a:xfrm>
            <a:custGeom>
              <a:avLst/>
              <a:gdLst>
                <a:gd name="connsiteX0" fmla="*/ 74486 w 995171"/>
                <a:gd name="connsiteY0" fmla="*/ 131921 h 420623"/>
                <a:gd name="connsiteX1" fmla="*/ 0 w 995171"/>
                <a:gd name="connsiteY1" fmla="*/ 131921 h 420623"/>
                <a:gd name="connsiteX2" fmla="*/ 0 w 995171"/>
                <a:gd name="connsiteY2" fmla="*/ 414719 h 420623"/>
                <a:gd name="connsiteX3" fmla="*/ 74486 w 995171"/>
                <a:gd name="connsiteY3" fmla="*/ 414719 h 420623"/>
                <a:gd name="connsiteX4" fmla="*/ 74486 w 995171"/>
                <a:gd name="connsiteY4" fmla="*/ 131921 h 420623"/>
                <a:gd name="connsiteX5" fmla="*/ 568262 w 995171"/>
                <a:gd name="connsiteY5" fmla="*/ 417576 h 420623"/>
                <a:gd name="connsiteX6" fmla="*/ 568262 w 995171"/>
                <a:gd name="connsiteY6" fmla="*/ 348234 h 420623"/>
                <a:gd name="connsiteX7" fmla="*/ 541306 w 995171"/>
                <a:gd name="connsiteY7" fmla="*/ 346520 h 420623"/>
                <a:gd name="connsiteX8" fmla="*/ 523780 w 995171"/>
                <a:gd name="connsiteY8" fmla="*/ 338804 h 420623"/>
                <a:gd name="connsiteX9" fmla="*/ 516065 w 995171"/>
                <a:gd name="connsiteY9" fmla="*/ 321945 h 420623"/>
                <a:gd name="connsiteX10" fmla="*/ 514350 w 995171"/>
                <a:gd name="connsiteY10" fmla="*/ 294608 h 420623"/>
                <a:gd name="connsiteX11" fmla="*/ 514350 w 995171"/>
                <a:gd name="connsiteY11" fmla="*/ 195644 h 420623"/>
                <a:gd name="connsiteX12" fmla="*/ 568262 w 995171"/>
                <a:gd name="connsiteY12" fmla="*/ 195644 h 420623"/>
                <a:gd name="connsiteX13" fmla="*/ 568262 w 995171"/>
                <a:gd name="connsiteY13" fmla="*/ 131921 h 420623"/>
                <a:gd name="connsiteX14" fmla="*/ 514350 w 995171"/>
                <a:gd name="connsiteY14" fmla="*/ 131921 h 420623"/>
                <a:gd name="connsiteX15" fmla="*/ 514350 w 995171"/>
                <a:gd name="connsiteY15" fmla="*/ 21812 h 420623"/>
                <a:gd name="connsiteX16" fmla="*/ 439865 w 995171"/>
                <a:gd name="connsiteY16" fmla="*/ 21812 h 420623"/>
                <a:gd name="connsiteX17" fmla="*/ 439865 w 995171"/>
                <a:gd name="connsiteY17" fmla="*/ 295180 h 420623"/>
                <a:gd name="connsiteX18" fmla="*/ 445865 w 995171"/>
                <a:gd name="connsiteY18" fmla="*/ 353473 h 420623"/>
                <a:gd name="connsiteX19" fmla="*/ 465677 w 995171"/>
                <a:gd name="connsiteY19" fmla="*/ 391001 h 420623"/>
                <a:gd name="connsiteX20" fmla="*/ 502063 w 995171"/>
                <a:gd name="connsiteY20" fmla="*/ 411385 h 420623"/>
                <a:gd name="connsiteX21" fmla="*/ 558927 w 995171"/>
                <a:gd name="connsiteY21" fmla="*/ 417671 h 420623"/>
                <a:gd name="connsiteX22" fmla="*/ 568262 w 995171"/>
                <a:gd name="connsiteY22" fmla="*/ 417671 h 420623"/>
                <a:gd name="connsiteX23" fmla="*/ 995172 w 995171"/>
                <a:gd name="connsiteY23" fmla="*/ 0 h 420623"/>
                <a:gd name="connsiteX24" fmla="*/ 920687 w 995171"/>
                <a:gd name="connsiteY24" fmla="*/ 0 h 420623"/>
                <a:gd name="connsiteX25" fmla="*/ 920687 w 995171"/>
                <a:gd name="connsiteY25" fmla="*/ 414719 h 420623"/>
                <a:gd name="connsiteX26" fmla="*/ 995172 w 995171"/>
                <a:gd name="connsiteY26" fmla="*/ 414719 h 420623"/>
                <a:gd name="connsiteX27" fmla="*/ 995172 w 995171"/>
                <a:gd name="connsiteY27" fmla="*/ 0 h 420623"/>
                <a:gd name="connsiteX28" fmla="*/ 367951 w 995171"/>
                <a:gd name="connsiteY28" fmla="*/ 159830 h 420623"/>
                <a:gd name="connsiteX29" fmla="*/ 281273 w 995171"/>
                <a:gd name="connsiteY29" fmla="*/ 126206 h 420623"/>
                <a:gd name="connsiteX30" fmla="*/ 232410 w 995171"/>
                <a:gd name="connsiteY30" fmla="*/ 137065 h 420623"/>
                <a:gd name="connsiteX31" fmla="*/ 195358 w 995171"/>
                <a:gd name="connsiteY31" fmla="*/ 167259 h 420623"/>
                <a:gd name="connsiteX32" fmla="*/ 191262 w 995171"/>
                <a:gd name="connsiteY32" fmla="*/ 172498 h 420623"/>
                <a:gd name="connsiteX33" fmla="*/ 191262 w 995171"/>
                <a:gd name="connsiteY33" fmla="*/ 167831 h 420623"/>
                <a:gd name="connsiteX34" fmla="*/ 191262 w 995171"/>
                <a:gd name="connsiteY34" fmla="*/ 132017 h 420623"/>
                <a:gd name="connsiteX35" fmla="*/ 117920 w 995171"/>
                <a:gd name="connsiteY35" fmla="*/ 132017 h 420623"/>
                <a:gd name="connsiteX36" fmla="*/ 117920 w 995171"/>
                <a:gd name="connsiteY36" fmla="*/ 414814 h 420623"/>
                <a:gd name="connsiteX37" fmla="*/ 191929 w 995171"/>
                <a:gd name="connsiteY37" fmla="*/ 414814 h 420623"/>
                <a:gd name="connsiteX38" fmla="*/ 191929 w 995171"/>
                <a:gd name="connsiteY38" fmla="*/ 264128 h 420623"/>
                <a:gd name="connsiteX39" fmla="*/ 192024 w 995171"/>
                <a:gd name="connsiteY39" fmla="*/ 274606 h 420623"/>
                <a:gd name="connsiteX40" fmla="*/ 192119 w 995171"/>
                <a:gd name="connsiteY40" fmla="*/ 269558 h 420623"/>
                <a:gd name="connsiteX41" fmla="*/ 211741 w 995171"/>
                <a:gd name="connsiteY41" fmla="*/ 210884 h 420623"/>
                <a:gd name="connsiteX42" fmla="*/ 258985 w 995171"/>
                <a:gd name="connsiteY42" fmla="*/ 190786 h 420623"/>
                <a:gd name="connsiteX43" fmla="*/ 307753 w 995171"/>
                <a:gd name="connsiteY43" fmla="*/ 210407 h 420623"/>
                <a:gd name="connsiteX44" fmla="*/ 323945 w 995171"/>
                <a:gd name="connsiteY44" fmla="*/ 264605 h 420623"/>
                <a:gd name="connsiteX45" fmla="*/ 323945 w 995171"/>
                <a:gd name="connsiteY45" fmla="*/ 264605 h 420623"/>
                <a:gd name="connsiteX46" fmla="*/ 323945 w 995171"/>
                <a:gd name="connsiteY46" fmla="*/ 265176 h 420623"/>
                <a:gd name="connsiteX47" fmla="*/ 323945 w 995171"/>
                <a:gd name="connsiteY47" fmla="*/ 265271 h 420623"/>
                <a:gd name="connsiteX48" fmla="*/ 323945 w 995171"/>
                <a:gd name="connsiteY48" fmla="*/ 414814 h 420623"/>
                <a:gd name="connsiteX49" fmla="*/ 399098 w 995171"/>
                <a:gd name="connsiteY49" fmla="*/ 414814 h 420623"/>
                <a:gd name="connsiteX50" fmla="*/ 399098 w 995171"/>
                <a:gd name="connsiteY50" fmla="*/ 254222 h 420623"/>
                <a:gd name="connsiteX51" fmla="*/ 367951 w 995171"/>
                <a:gd name="connsiteY51" fmla="*/ 159830 h 420623"/>
                <a:gd name="connsiteX52" fmla="*/ 881825 w 995171"/>
                <a:gd name="connsiteY52" fmla="*/ 272796 h 420623"/>
                <a:gd name="connsiteX53" fmla="*/ 871061 w 995171"/>
                <a:gd name="connsiteY53" fmla="*/ 215646 h 420623"/>
                <a:gd name="connsiteX54" fmla="*/ 841057 w 995171"/>
                <a:gd name="connsiteY54" fmla="*/ 168974 h 420623"/>
                <a:gd name="connsiteX55" fmla="*/ 794957 w 995171"/>
                <a:gd name="connsiteY55" fmla="*/ 137636 h 420623"/>
                <a:gd name="connsiteX56" fmla="*/ 735806 w 995171"/>
                <a:gd name="connsiteY56" fmla="*/ 126302 h 420623"/>
                <a:gd name="connsiteX57" fmla="*/ 678371 w 995171"/>
                <a:gd name="connsiteY57" fmla="*/ 137922 h 420623"/>
                <a:gd name="connsiteX58" fmla="*/ 631698 w 995171"/>
                <a:gd name="connsiteY58" fmla="*/ 169355 h 420623"/>
                <a:gd name="connsiteX59" fmla="*/ 600266 w 995171"/>
                <a:gd name="connsiteY59" fmla="*/ 216027 h 420623"/>
                <a:gd name="connsiteX60" fmla="*/ 588645 w 995171"/>
                <a:gd name="connsiteY60" fmla="*/ 273463 h 420623"/>
                <a:gd name="connsiteX61" fmla="*/ 599694 w 995171"/>
                <a:gd name="connsiteY61" fmla="*/ 330899 h 420623"/>
                <a:gd name="connsiteX62" fmla="*/ 630269 w 995171"/>
                <a:gd name="connsiteY62" fmla="*/ 377571 h 420623"/>
                <a:gd name="connsiteX63" fmla="*/ 677513 w 995171"/>
                <a:gd name="connsiteY63" fmla="*/ 409004 h 420623"/>
                <a:gd name="connsiteX64" fmla="*/ 738092 w 995171"/>
                <a:gd name="connsiteY64" fmla="*/ 420624 h 420623"/>
                <a:gd name="connsiteX65" fmla="*/ 863918 w 995171"/>
                <a:gd name="connsiteY65" fmla="*/ 365093 h 420623"/>
                <a:gd name="connsiteX66" fmla="*/ 810292 w 995171"/>
                <a:gd name="connsiteY66" fmla="*/ 324231 h 420623"/>
                <a:gd name="connsiteX67" fmla="*/ 738664 w 995171"/>
                <a:gd name="connsiteY67" fmla="*/ 355854 h 420623"/>
                <a:gd name="connsiteX68" fmla="*/ 687229 w 995171"/>
                <a:gd name="connsiteY68" fmla="*/ 341376 h 420623"/>
                <a:gd name="connsiteX69" fmla="*/ 660368 w 995171"/>
                <a:gd name="connsiteY69" fmla="*/ 302133 h 420623"/>
                <a:gd name="connsiteX70" fmla="*/ 659606 w 995171"/>
                <a:gd name="connsiteY70" fmla="*/ 299466 h 420623"/>
                <a:gd name="connsiteX71" fmla="*/ 881825 w 995171"/>
                <a:gd name="connsiteY71" fmla="*/ 299466 h 420623"/>
                <a:gd name="connsiteX72" fmla="*/ 881825 w 995171"/>
                <a:gd name="connsiteY72" fmla="*/ 272796 h 420623"/>
                <a:gd name="connsiteX73" fmla="*/ 660368 w 995171"/>
                <a:gd name="connsiteY73" fmla="*/ 246793 h 420623"/>
                <a:gd name="connsiteX74" fmla="*/ 735330 w 995171"/>
                <a:gd name="connsiteY74" fmla="*/ 189929 h 420623"/>
                <a:gd name="connsiteX75" fmla="*/ 810387 w 995171"/>
                <a:gd name="connsiteY75" fmla="*/ 246698 h 420623"/>
                <a:gd name="connsiteX76" fmla="*/ 660368 w 995171"/>
                <a:gd name="connsiteY76" fmla="*/ 246793 h 42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995171" h="420623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C614C49-972F-498A-9654-844CECF9AF64}"/>
                </a:ext>
              </a:extLst>
            </p:cNvPr>
            <p:cNvSpPr/>
            <p:nvPr/>
          </p:nvSpPr>
          <p:spPr>
            <a:xfrm>
              <a:off x="2358770" y="6728469"/>
              <a:ext cx="79057" cy="79057"/>
            </a:xfrm>
            <a:custGeom>
              <a:avLst/>
              <a:gdLst>
                <a:gd name="connsiteX0" fmla="*/ 39529 w 79057"/>
                <a:gd name="connsiteY0" fmla="*/ 5620 h 79057"/>
                <a:gd name="connsiteX1" fmla="*/ 73438 w 79057"/>
                <a:gd name="connsiteY1" fmla="*/ 39529 h 79057"/>
                <a:gd name="connsiteX2" fmla="*/ 39529 w 79057"/>
                <a:gd name="connsiteY2" fmla="*/ 73438 h 79057"/>
                <a:gd name="connsiteX3" fmla="*/ 5620 w 79057"/>
                <a:gd name="connsiteY3" fmla="*/ 39529 h 79057"/>
                <a:gd name="connsiteX4" fmla="*/ 39529 w 79057"/>
                <a:gd name="connsiteY4" fmla="*/ 5620 h 79057"/>
                <a:gd name="connsiteX5" fmla="*/ 39529 w 79057"/>
                <a:gd name="connsiteY5" fmla="*/ 0 h 79057"/>
                <a:gd name="connsiteX6" fmla="*/ 0 w 79057"/>
                <a:gd name="connsiteY6" fmla="*/ 39529 h 79057"/>
                <a:gd name="connsiteX7" fmla="*/ 39529 w 79057"/>
                <a:gd name="connsiteY7" fmla="*/ 79058 h 79057"/>
                <a:gd name="connsiteX8" fmla="*/ 79058 w 79057"/>
                <a:gd name="connsiteY8" fmla="*/ 39529 h 79057"/>
                <a:gd name="connsiteX9" fmla="*/ 39529 w 79057"/>
                <a:gd name="connsiteY9" fmla="*/ 0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057" h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22EBBE0-933B-4A65-BAAC-DC5972E3F9A4}"/>
                </a:ext>
              </a:extLst>
            </p:cNvPr>
            <p:cNvSpPr/>
            <p:nvPr/>
          </p:nvSpPr>
          <p:spPr>
            <a:xfrm>
              <a:off x="2384869" y="6748090"/>
              <a:ext cx="30765" cy="39528"/>
            </a:xfrm>
            <a:custGeom>
              <a:avLst/>
              <a:gdLst>
                <a:gd name="connsiteX0" fmla="*/ 16383 w 30765"/>
                <a:gd name="connsiteY0" fmla="*/ 95 h 39528"/>
                <a:gd name="connsiteX1" fmla="*/ 23051 w 30765"/>
                <a:gd name="connsiteY1" fmla="*/ 1715 h 39528"/>
                <a:gd name="connsiteX2" fmla="*/ 27718 w 30765"/>
                <a:gd name="connsiteY2" fmla="*/ 6191 h 39528"/>
                <a:gd name="connsiteX3" fmla="*/ 29337 w 30765"/>
                <a:gd name="connsiteY3" fmla="*/ 12478 h 39528"/>
                <a:gd name="connsiteX4" fmla="*/ 27146 w 30765"/>
                <a:gd name="connsiteY4" fmla="*/ 19622 h 39528"/>
                <a:gd name="connsiteX5" fmla="*/ 21812 w 30765"/>
                <a:gd name="connsiteY5" fmla="*/ 23717 h 39528"/>
                <a:gd name="connsiteX6" fmla="*/ 30766 w 30765"/>
                <a:gd name="connsiteY6" fmla="*/ 39529 h 39528"/>
                <a:gd name="connsiteX7" fmla="*/ 23717 w 30765"/>
                <a:gd name="connsiteY7" fmla="*/ 39529 h 39528"/>
                <a:gd name="connsiteX8" fmla="*/ 15526 w 30765"/>
                <a:gd name="connsiteY8" fmla="*/ 24860 h 39528"/>
                <a:gd name="connsiteX9" fmla="*/ 6191 w 30765"/>
                <a:gd name="connsiteY9" fmla="*/ 24860 h 39528"/>
                <a:gd name="connsiteX10" fmla="*/ 6191 w 30765"/>
                <a:gd name="connsiteY10" fmla="*/ 39529 h 39528"/>
                <a:gd name="connsiteX11" fmla="*/ 0 w 30765"/>
                <a:gd name="connsiteY11" fmla="*/ 39529 h 39528"/>
                <a:gd name="connsiteX12" fmla="*/ 0 w 30765"/>
                <a:gd name="connsiteY12" fmla="*/ 0 h 39528"/>
                <a:gd name="connsiteX13" fmla="*/ 16383 w 30765"/>
                <a:gd name="connsiteY13" fmla="*/ 0 h 39528"/>
                <a:gd name="connsiteX14" fmla="*/ 16383 w 30765"/>
                <a:gd name="connsiteY14" fmla="*/ 19336 h 39528"/>
                <a:gd name="connsiteX15" fmla="*/ 19907 w 30765"/>
                <a:gd name="connsiteY15" fmla="*/ 18478 h 39528"/>
                <a:gd name="connsiteX16" fmla="*/ 22289 w 30765"/>
                <a:gd name="connsiteY16" fmla="*/ 16097 h 39528"/>
                <a:gd name="connsiteX17" fmla="*/ 23146 w 30765"/>
                <a:gd name="connsiteY17" fmla="*/ 12573 h 39528"/>
                <a:gd name="connsiteX18" fmla="*/ 22289 w 30765"/>
                <a:gd name="connsiteY18" fmla="*/ 9049 h 39528"/>
                <a:gd name="connsiteX19" fmla="*/ 19907 w 30765"/>
                <a:gd name="connsiteY19" fmla="*/ 6668 h 39528"/>
                <a:gd name="connsiteX20" fmla="*/ 16383 w 30765"/>
                <a:gd name="connsiteY20" fmla="*/ 5810 h 39528"/>
                <a:gd name="connsiteX21" fmla="*/ 6191 w 30765"/>
                <a:gd name="connsiteY21" fmla="*/ 5810 h 39528"/>
                <a:gd name="connsiteX22" fmla="*/ 6191 w 30765"/>
                <a:gd name="connsiteY22" fmla="*/ 19336 h 39528"/>
                <a:gd name="connsiteX23" fmla="*/ 16383 w 30765"/>
                <a:gd name="connsiteY23" fmla="*/ 19336 h 39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0765" h="39528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1146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BCACC-A31A-6492-29B5-8FA12D93E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D6EA2-D836-E445-3799-D5707EC86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8EEFD-1689-488C-F097-F82667742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7E1DC1-D567-48BC-8CBC-54F05EDF1579}" type="datetimeFigureOut">
              <a:rPr lang="en-IN" smtClean="0"/>
              <a:t>21-04-2026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6DE54-89B0-4B07-3D04-84E758973E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DAB49-24DE-2E06-A833-C3DC545E0D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F353B3-6E89-41A7-9DBB-ABB2050106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1484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amadaan@GAR.CORP.intel.co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15BF-29A5-4FAD-A0CF-58E9F01EA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551" y="2419801"/>
            <a:ext cx="10528449" cy="794668"/>
          </a:xfrm>
        </p:spPr>
        <p:txBody>
          <a:bodyPr lIns="0" tIns="0" rIns="0" bIns="0" anchor="t">
            <a:noAutofit/>
          </a:bodyPr>
          <a:lstStyle/>
          <a:p>
            <a:br>
              <a:rPr lang="en-US" sz="2400" dirty="0">
                <a:latin typeface="IntelOne Display Light"/>
              </a:rPr>
            </a:br>
            <a:endParaRPr lang="en-US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40AAE93-C96F-2EBD-8767-2B4C63269A75}"/>
              </a:ext>
            </a:extLst>
          </p:cNvPr>
          <p:cNvSpPr txBox="1"/>
          <p:nvPr/>
        </p:nvSpPr>
        <p:spPr>
          <a:xfrm>
            <a:off x="1078551" y="1219859"/>
            <a:ext cx="61009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FFFF"/>
                </a:solidFill>
              </a:rPr>
              <a:t>HSD DomainTrack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137BEF-A702-C4B4-F7CE-7B7185E22F69}"/>
              </a:ext>
            </a:extLst>
          </p:cNvPr>
          <p:cNvSpPr/>
          <p:nvPr/>
        </p:nvSpPr>
        <p:spPr>
          <a:xfrm>
            <a:off x="1177904" y="1743079"/>
            <a:ext cx="9666879" cy="45719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1B70AD-F122-46D6-6B51-41D1DB3AB944}"/>
              </a:ext>
            </a:extLst>
          </p:cNvPr>
          <p:cNvSpPr txBox="1"/>
          <p:nvPr/>
        </p:nvSpPr>
        <p:spPr>
          <a:xfrm>
            <a:off x="1078550" y="1896581"/>
            <a:ext cx="102051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1" dirty="0">
                <a:solidFill>
                  <a:srgbClr val="00A3E0"/>
                </a:solidFill>
              </a:rPr>
              <a:t>AI-Powered HSD Domain Classification, Clustering and Reporting Pipeline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2E0881-DBF8-2904-C05B-12C990111EF1}"/>
              </a:ext>
            </a:extLst>
          </p:cNvPr>
          <p:cNvSpPr txBox="1"/>
          <p:nvPr/>
        </p:nvSpPr>
        <p:spPr>
          <a:xfrm>
            <a:off x="1078551" y="2511748"/>
            <a:ext cx="610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800" b="0" i="1" dirty="0">
                <a:solidFill>
                  <a:srgbClr val="00A3E0"/>
                </a:solidFill>
              </a:rPr>
              <a:t>Automated  ·  Deterministic  ·  AI-Assisted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6989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82296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88" y="0"/>
            <a:ext cx="228600" cy="68580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8788" y="248920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End-to-End Pipeline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321628" y="1298449"/>
            <a:ext cx="2194560" cy="3749039"/>
          </a:xfrm>
          <a:prstGeom prst="rect">
            <a:avLst/>
          </a:prstGeom>
          <a:solidFill>
            <a:srgbClr val="F0F4F8"/>
          </a:solidFill>
          <a:ln w="19050">
            <a:solidFill>
              <a:srgbClr val="0068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1628" y="1298448"/>
            <a:ext cx="2194560" cy="502920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4780" y="1371600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94780" y="1335024"/>
            <a:ext cx="34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68B5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405" y="1353312"/>
            <a:ext cx="162763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357" y="1865376"/>
            <a:ext cx="1993391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en-IN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Run kinit to obtain a valid Kerberos ticket before executing the script.</a:t>
            </a:r>
            <a:b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</a:br>
            <a:b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</a:br>
            <a:r>
              <a:rPr lang="en-IN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Example: </a:t>
            </a:r>
          </a:p>
          <a:p>
            <a:pPr>
              <a:spcBef>
                <a:spcPts val="200"/>
              </a:spcBef>
            </a:pPr>
            <a:r>
              <a:rPr lang="fi-FI" sz="800" b="1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kinit </a:t>
            </a:r>
            <a:r>
              <a:rPr lang="fi-FI" sz="800" b="1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  <a:hlinkClick r:id="rId2"/>
              </a:rPr>
              <a:t>amadaan@GAR.CORP.intel.com</a:t>
            </a:r>
            <a:br>
              <a:rPr lang="fi-FI" sz="800" b="1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</a:br>
            <a:endParaRPr lang="fi-FI" sz="800" b="1" dirty="0">
              <a:solidFill>
                <a:srgbClr val="212529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  <a:p>
            <a:pPr>
              <a:spcBef>
                <a:spcPts val="200"/>
              </a:spcBef>
            </a:pPr>
            <a:r>
              <a:rPr lang="en-IN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</a:t>
            </a:r>
            <a:r>
              <a:rPr lang="fi-FI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To validate:</a:t>
            </a:r>
            <a:br>
              <a:rPr lang="fi-FI" sz="8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</a:br>
            <a:r>
              <a:rPr lang="fi-FI" sz="800" b="1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Klist</a:t>
            </a:r>
          </a:p>
          <a:p>
            <a:pPr>
              <a:spcBef>
                <a:spcPts val="200"/>
              </a:spcBef>
            </a:pPr>
            <a:endParaRPr sz="1100" dirty="0">
              <a:solidFill>
                <a:srgbClr val="212529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4781" y="4394200"/>
            <a:ext cx="2029967" cy="598423"/>
          </a:xfrm>
          <a:prstGeom prst="rect">
            <a:avLst/>
          </a:prstGeom>
          <a:solidFill>
            <a:srgbClr val="0068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4780" y="4394200"/>
            <a:ext cx="1993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Out: kinit, on success, prints nothing - it silently obtains and caches a Kerberos ticket. You can verify it using </a:t>
            </a:r>
            <a:r>
              <a:rPr lang="en-US" sz="900" b="1" dirty="0" err="1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klist</a:t>
            </a:r>
            <a:r>
              <a:rPr lang="en-US"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.</a:t>
            </a:r>
            <a:endParaRPr sz="900" b="1" dirty="0">
              <a:solidFill>
                <a:srgbClr val="FFFFFF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516188" y="2569930"/>
            <a:ext cx="1429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6C757D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9068" y="1298449"/>
            <a:ext cx="2194560" cy="3749039"/>
          </a:xfrm>
          <a:prstGeom prst="rect">
            <a:avLst/>
          </a:prstGeom>
          <a:solidFill>
            <a:srgbClr val="F0F4F8"/>
          </a:solidFill>
          <a:ln w="19050">
            <a:solidFill>
              <a:srgbClr val="00A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699068" y="1298448"/>
            <a:ext cx="2194560" cy="50292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772220" y="1371600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772220" y="1335024"/>
            <a:ext cx="34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A3E0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2845" y="1353312"/>
            <a:ext cx="162763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Fetch IDs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8797" y="1865377"/>
            <a:ext cx="1993391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python fetch_hsd_ids.py &lt;</a:t>
            </a:r>
            <a:r>
              <a:rPr sz="1100" dirty="0" err="1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query_id</a:t>
            </a: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&gt;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Curl HSDES REST API (Kerberos)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Writes </a:t>
            </a:r>
            <a:r>
              <a:rPr sz="1100" dirty="0" err="1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id⇥title</a:t>
            </a: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 per 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72221" y="4394200"/>
            <a:ext cx="2029967" cy="598423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90508" y="4394200"/>
            <a:ext cx="1993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OUT: hsd_list.txt</a:t>
            </a:r>
            <a:endParaRPr lang="en-US" sz="900" b="1" dirty="0">
              <a:solidFill>
                <a:srgbClr val="FFFFFF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  <a:p>
            <a:pPr algn="l"/>
            <a:r>
              <a:rPr lang="en-IN"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imh1_hsd_list.txt</a:t>
            </a:r>
          </a:p>
          <a:p>
            <a:pPr algn="l"/>
            <a:r>
              <a:rPr lang="en-IN"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Imh2_hsd_list.txt</a:t>
            </a:r>
          </a:p>
          <a:p>
            <a:pPr algn="l"/>
            <a:r>
              <a:rPr lang="en-IN"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Mcp_hsd_list.txt</a:t>
            </a:r>
            <a:endParaRPr sz="900" b="1" dirty="0">
              <a:solidFill>
                <a:srgbClr val="FFFFFF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72953" y="2550266"/>
            <a:ext cx="1292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6C757D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6508" y="1298449"/>
            <a:ext cx="2194560" cy="3749039"/>
          </a:xfrm>
          <a:prstGeom prst="rect">
            <a:avLst/>
          </a:prstGeom>
          <a:solidFill>
            <a:srgbClr val="F0F4F8"/>
          </a:solidFill>
          <a:ln w="19050">
            <a:solidFill>
              <a:srgbClr val="FD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076508" y="1298448"/>
            <a:ext cx="2194560" cy="502920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149660" y="1371600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49660" y="1335024"/>
            <a:ext cx="34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D7E14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0285" y="1353312"/>
            <a:ext cx="162763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Extract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86237" y="1865377"/>
            <a:ext cx="1993391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Read hsd_list.txt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</a:t>
            </a:r>
            <a:r>
              <a:rPr lang="en-US" sz="1100" b="1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HSDES REST API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: For each HSD ID in the input list, the script makes an authenticated GET https://hsdes-api.intel.com/rest/article/{id} </a:t>
            </a: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Parses the data and writes all results to a Json file.</a:t>
            </a:r>
            <a:b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</a:br>
            <a:r>
              <a:rPr lang="en-IN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Usage: python3 hsdes_api_extractor.py --ids-file mcp_hsd_list.txt --tag mcp --workers 2 --delay 0.5</a:t>
            </a:r>
            <a:endParaRPr sz="1100" dirty="0">
              <a:solidFill>
                <a:srgbClr val="212529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149661" y="4394200"/>
            <a:ext cx="2029967" cy="598423"/>
          </a:xfrm>
          <a:prstGeom prst="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01552" y="4394200"/>
            <a:ext cx="19933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OUT: </a:t>
            </a:r>
            <a:r>
              <a:rPr lang="sv-SE"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raw_hsdes_data_&lt;tag&gt;.json</a:t>
            </a:r>
            <a:endParaRPr sz="900" b="1" dirty="0">
              <a:solidFill>
                <a:srgbClr val="FFFFFF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260730" y="2560320"/>
            <a:ext cx="118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6C757D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3948" y="1298449"/>
            <a:ext cx="2194560" cy="3749039"/>
          </a:xfrm>
          <a:prstGeom prst="rect">
            <a:avLst/>
          </a:prstGeom>
          <a:solidFill>
            <a:srgbClr val="F0F4F8"/>
          </a:solidFill>
          <a:ln w="19050">
            <a:solidFill>
              <a:srgbClr val="613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453948" y="1298448"/>
            <a:ext cx="2194560" cy="502920"/>
          </a:xfrm>
          <a:prstGeom prst="rect">
            <a:avLst/>
          </a:prstGeom>
          <a:solidFill>
            <a:srgbClr val="613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7527100" y="1371600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27100" y="1335024"/>
            <a:ext cx="34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13DC0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47725" y="1353312"/>
            <a:ext cx="162763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Cluster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3677" y="1865377"/>
            <a:ext cx="1993391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Created SKILL.md using GHCP to define the output structure and instructions for identifying the problem domain and grouping </a:t>
            </a:r>
            <a:r>
              <a:rPr lang="en-US" sz="1100" dirty="0" err="1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hsd_ids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 by domain.</a:t>
            </a:r>
            <a:b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</a:br>
            <a:b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</a:br>
            <a:r>
              <a:rPr lang="en-IN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Usage in GHCP chat:</a:t>
            </a:r>
            <a:b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</a:b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"Read SKILL.md and apply it to &lt;path to /</a:t>
            </a:r>
            <a:r>
              <a:rPr lang="en-US" sz="1100" dirty="0" err="1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raw_hsdes_data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_*.</a:t>
            </a:r>
            <a:r>
              <a:rPr lang="en-US" sz="1100" dirty="0" err="1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json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"</a:t>
            </a:r>
            <a:endParaRPr sz="1100" dirty="0">
              <a:solidFill>
                <a:srgbClr val="212529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7527101" y="4394200"/>
            <a:ext cx="2029967" cy="598423"/>
          </a:xfrm>
          <a:prstGeom prst="rect">
            <a:avLst/>
          </a:prstGeom>
          <a:solidFill>
            <a:srgbClr val="613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527100" y="4394200"/>
            <a:ext cx="19933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OUT: </a:t>
            </a:r>
            <a:r>
              <a:rPr lang="en-US"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 </a:t>
            </a:r>
            <a:r>
              <a:rPr lang="en-US" sz="900" b="1" dirty="0" err="1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triage_classification</a:t>
            </a:r>
            <a:r>
              <a:rPr sz="900" b="1" dirty="0" err="1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.json</a:t>
            </a:r>
            <a:endParaRPr sz="900" b="1" dirty="0">
              <a:solidFill>
                <a:srgbClr val="FFFFFF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31416" y="2597334"/>
            <a:ext cx="12682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dirty="0">
                <a:solidFill>
                  <a:srgbClr val="6C757D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31388" y="1298449"/>
            <a:ext cx="2194560" cy="3749039"/>
          </a:xfrm>
          <a:prstGeom prst="rect">
            <a:avLst/>
          </a:prstGeom>
          <a:solidFill>
            <a:srgbClr val="F0F4F8"/>
          </a:solidFill>
          <a:ln w="19050">
            <a:solidFill>
              <a:srgbClr val="28A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9831388" y="1298448"/>
            <a:ext cx="2194560" cy="5029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904540" y="1371600"/>
            <a:ext cx="347472" cy="347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904540" y="1335024"/>
            <a:ext cx="3474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A745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25165" y="1353312"/>
            <a:ext cx="162763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Report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41117" y="1865376"/>
            <a:ext cx="199339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generate_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dashboard</a:t>
            </a: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.py</a:t>
            </a:r>
          </a:p>
          <a:p>
            <a:pPr>
              <a:spcBef>
                <a:spcPts val="200"/>
              </a:spcBef>
            </a:pP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▸ Interactive single-page</a:t>
            </a:r>
            <a:r>
              <a:rPr lang="en-US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        </a:t>
            </a:r>
            <a:r>
              <a:rPr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HTML</a:t>
            </a:r>
            <a:endParaRPr lang="en-US" sz="1100" dirty="0">
              <a:solidFill>
                <a:srgbClr val="212529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  <a:p>
            <a:pPr>
              <a:spcBef>
                <a:spcPts val="200"/>
              </a:spcBef>
            </a:pPr>
            <a:endParaRPr lang="en-IN" sz="1100" dirty="0">
              <a:solidFill>
                <a:srgbClr val="212529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  <a:p>
            <a:pPr>
              <a:spcBef>
                <a:spcPts val="200"/>
              </a:spcBef>
            </a:pPr>
            <a:r>
              <a:rPr lang="en-IN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Usage: python3 generate_dashboard.py &lt;path to / </a:t>
            </a:r>
            <a:r>
              <a:rPr lang="en-IN" sz="1100" dirty="0" err="1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triage_classification.json</a:t>
            </a:r>
            <a:r>
              <a:rPr lang="en-IN" sz="1100" dirty="0">
                <a:solidFill>
                  <a:srgbClr val="212529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&gt;</a:t>
            </a:r>
            <a:endParaRPr sz="1100" dirty="0">
              <a:solidFill>
                <a:srgbClr val="212529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904541" y="4394200"/>
            <a:ext cx="2029967" cy="598423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904540" y="4394200"/>
            <a:ext cx="19933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OUT: </a:t>
            </a:r>
            <a:r>
              <a:rPr lang="en-US" sz="900" b="1" dirty="0">
                <a:solidFill>
                  <a:srgbClr val="FFFFFF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 triage_dashboard.html</a:t>
            </a:r>
            <a:endParaRPr sz="900" b="1" dirty="0">
              <a:solidFill>
                <a:srgbClr val="FFFFFF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321628" y="5212080"/>
            <a:ext cx="11521440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8788" y="5340429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856404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Each stage consumes the prior stage’s output, enabling partial reruns without repeating the full end-to-end flow.</a:t>
            </a:r>
            <a:endParaRPr sz="1000" dirty="0">
              <a:solidFill>
                <a:srgbClr val="856404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9DA88B2-5E55-89A6-0E4A-322C955F8B1C}"/>
              </a:ext>
            </a:extLst>
          </p:cNvPr>
          <p:cNvSpPr/>
          <p:nvPr/>
        </p:nvSpPr>
        <p:spPr>
          <a:xfrm>
            <a:off x="321628" y="5803561"/>
            <a:ext cx="11521440" cy="50292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6A14461-DD88-3747-00EE-4D723FEE69D7}"/>
              </a:ext>
            </a:extLst>
          </p:cNvPr>
          <p:cNvSpPr txBox="1"/>
          <p:nvPr/>
        </p:nvSpPr>
        <p:spPr>
          <a:xfrm>
            <a:off x="472440" y="5930930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>
                <a:solidFill>
                  <a:srgbClr val="856404"/>
                </a:solidFill>
                <a:latin typeface="IntelOne Display CY Regular" panose="020B0503020203020204" pitchFamily="34" charset="0"/>
                <a:cs typeface="IntelOne Display AR Bold" panose="020B0803020203020204" pitchFamily="34" charset="-78"/>
              </a:rPr>
              <a:t>This pipeline enables scalable triage by separating data extraction, domain clustering, and reporting into reusable stages.</a:t>
            </a:r>
            <a:endParaRPr sz="1000" dirty="0">
              <a:solidFill>
                <a:srgbClr val="856404"/>
              </a:solidFill>
              <a:latin typeface="IntelOne Display CY Regular" panose="020B0503020203020204" pitchFamily="34" charset="0"/>
              <a:cs typeface="IntelOne Display AR Bold" panose="020B0803020203020204" pitchFamily="34" charset="-78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385</Words>
  <Application>Microsoft Office PowerPoint</Application>
  <PresentationFormat>Widescreen</PresentationFormat>
  <Paragraphs>42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Aptos</vt:lpstr>
      <vt:lpstr>Aptos Display</vt:lpstr>
      <vt:lpstr>Arial</vt:lpstr>
      <vt:lpstr>Helvetica Neue Medium</vt:lpstr>
      <vt:lpstr>IntelOne Display Bold</vt:lpstr>
      <vt:lpstr>IntelOne Display CY Regular</vt:lpstr>
      <vt:lpstr>IntelOne Display Light</vt:lpstr>
      <vt:lpstr>IntelOne Display Regular</vt:lpstr>
      <vt:lpstr>Office Theme</vt:lpstr>
      <vt:lpstr>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Madaan, Alisha</dc:creator>
  <cp:lastModifiedBy>Madaan, Alisha</cp:lastModifiedBy>
  <cp:revision>1</cp:revision>
  <dcterms:created xsi:type="dcterms:W3CDTF">2026-04-21T04:12:27Z</dcterms:created>
  <dcterms:modified xsi:type="dcterms:W3CDTF">2026-04-21T07:44:46Z</dcterms:modified>
</cp:coreProperties>
</file>